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数据结构：栈（合成测试课件）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874519"/>
            <a:ext cx="102412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300"/>
            </a:pPr>
            <a:r>
              <a:t>仅用于 V2 工程验收，非用户课程原始资料。</a:t>
            </a:r>
          </a:p>
          <a:p>
            <a:pPr>
              <a:spcAft>
                <a:spcPts val="1800"/>
              </a:spcAft>
              <a:defRPr sz="2300"/>
            </a:pPr>
            <a:r>
              <a:t>课程：数据结构与算法；章节：栈与队列。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栈的定义和 LIFO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874519"/>
            <a:ext cx="102412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300"/>
            </a:pPr>
            <a:r>
              <a:t>栈（Stack）只允许在同一端插入与删除。</a:t>
            </a:r>
          </a:p>
          <a:p>
            <a:pPr>
              <a:spcAft>
                <a:spcPts val="1800"/>
              </a:spcAft>
              <a:defRPr sz="2300"/>
            </a:pPr>
            <a:r>
              <a:t>该端叫栈顶 top；另一端叫栈底 bottom。</a:t>
            </a:r>
          </a:p>
          <a:p>
            <a:pPr>
              <a:spcAft>
                <a:spcPts val="1800"/>
              </a:spcAft>
              <a:defRPr sz="2300"/>
            </a:pPr>
            <a:r>
              <a:t>栈遵循后进先出（LIFO）。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栈的基本操作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874519"/>
            <a:ext cx="102412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300"/>
            </a:pPr>
            <a:r>
              <a:t>push(x)：将元素 x 压入栈顶。</a:t>
            </a:r>
          </a:p>
          <a:p>
            <a:pPr>
              <a:spcAft>
                <a:spcPts val="1800"/>
              </a:spcAft>
              <a:defRPr sz="2300"/>
            </a:pPr>
            <a:r>
              <a:t>pop()：移除栈顶元素。</a:t>
            </a:r>
          </a:p>
          <a:p>
            <a:pPr>
              <a:spcAft>
                <a:spcPts val="1800"/>
              </a:spcAft>
              <a:defRPr sz="2300"/>
            </a:pPr>
            <a:r>
              <a:t>top()：读取栈顶但不移除。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空栈、边界与验证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874519"/>
            <a:ext cx="102412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300"/>
            </a:pPr>
            <a:r>
              <a:t>对空栈调用 pop() 必须返回明确的下溢错误或失败状态。</a:t>
            </a:r>
          </a:p>
          <a:p>
            <a:pPr>
              <a:spcAft>
                <a:spcPts val="1800"/>
              </a:spcAft>
              <a:defRPr sz="2300"/>
            </a:pPr>
            <a:r>
              <a:t>顺序栈若容量固定，入栈时应检测栈满。</a:t>
            </a:r>
          </a:p>
          <a:p>
            <a:pPr>
              <a:spcAft>
                <a:spcPts val="1800"/>
              </a:spcAft>
              <a:defRPr sz="2300"/>
            </a:pPr>
            <a:r>
              <a:t>例：依次 push(4)、push(9)、pop()、push(2)，最终 top 为 2。</a:t>
            </a:r>
          </a:p>
          <a:p>
            <a:pPr>
              <a:spcAft>
                <a:spcPts val="1800"/>
              </a:spcAft>
              <a:defRPr sz="2300"/>
            </a:pPr>
            <a:r>
              <a:t>掌握标准：不借助动画独立跟踪栈内容。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